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A8EDEA"/>
                </a:solidFill>
              </a:rPr>
              <a:t>CiteMind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i="1">
                <a:solidFill>
                  <a:srgbClr val="F5F7FA"/>
                </a:solidFill>
              </a:rPr>
              <a:t>Intelligent Research Assistant with Verifiable Citations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667EEA"/>
                </a:solidFill>
              </a:rPr>
              <a:t>Powered by RAG · Groq · Gemini · ChromaDB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94A3B8"/>
                </a:solidFill>
              </a:rPr>
              <a:t>Niam  ·  Machine Learning System Design  ·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A8EDEA"/>
                </a:solidFill>
              </a:rPr>
              <a:t>1.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828800" cy="457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5F7FA"/>
                </a:solidFill>
              </a:rPr>
              <a:t>•  3M+ research papers published annually — researchers drown in information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5F7FA"/>
                </a:solidFill>
              </a:rPr>
              <a:t>•  Keyword search returns documents, not synthesized answers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5F7FA"/>
                </a:solidFill>
              </a:rPr>
              <a:t>•  LLMs hallucinate facts and fabricate citations — unsafe for academic work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5F7FA"/>
                </a:solidFill>
              </a:rPr>
              <a:t>•  No verifiable sources → AI-generated summaries cannot be trusted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5F7FA"/>
                </a:solidFill>
              </a:rPr>
              <a:t>•  PhD students spend 23+ hrs/week on literature review (Nature 2023)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4A3B8"/>
                </a:solidFill>
              </a:rPr>
              <a:t>2/12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4A3B8"/>
                </a:solidFill>
              </a:rPr>
              <a:t>CiteMind AI · by Niam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A8EDEA"/>
                </a:solidFill>
              </a:rPr>
              <a:t>2. Actuality &amp; Relevance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828800" cy="457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5F7FA"/>
                </a:solidFill>
              </a:rPr>
              <a:t>•  Educational: democratizes literature review for under-resourced students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5F7FA"/>
                </a:solidFill>
              </a:rPr>
              <a:t>•  Medical: evidence-based decision support with verifiable citations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5F7FA"/>
                </a:solidFill>
              </a:rPr>
              <a:t>•  Business / R&amp;D: 10x faster technical due diligence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5F7FA"/>
                </a:solidFill>
              </a:rPr>
              <a:t>•  Scientific: reduces time-to-insight when entering new fields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5F7FA"/>
                </a:solidFill>
              </a:rPr>
              <a:t>•  Free LLMs (Groq, Gemini) + local vector DBs make this achievable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4A3B8"/>
                </a:solidFill>
              </a:rPr>
              <a:t>3/12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4A3B8"/>
                </a:solidFill>
              </a:rPr>
              <a:t>CiteMind AI · by Niam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A8EDEA"/>
                </a:solidFill>
              </a:rPr>
              <a:t>3. Novelty &amp; Originality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828800" cy="457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5F7FA"/>
                </a:solidFill>
              </a:rPr>
              <a:t>•  Dual-LLM Architecture: Groq (fast) + Gemini (deep) with comparison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5F7FA"/>
                </a:solidFill>
              </a:rPr>
              <a:t>•  Confidence-Aware Refusal: 3-tier (High/Medium/Low) prevents hallucination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5F7FA"/>
                </a:solidFill>
              </a:rPr>
              <a:t>•  Per-Chunk Citation Tracking: source + page + relevance score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5F7FA"/>
                </a:solidFill>
              </a:rPr>
              <a:t>•  100% open-source, self-hostable, zero-cost (free LLM tiers)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5F7FA"/>
                </a:solidFill>
              </a:rPr>
              <a:t>•  RAGAS-style evaluation built-in — quantitatively measurable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4A3B8"/>
                </a:solidFill>
              </a:rPr>
              <a:t>4/12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4A3B8"/>
                </a:solidFill>
              </a:rPr>
              <a:t>CiteMind AI · by Niam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A8EDEA"/>
                </a:solidFill>
              </a:rPr>
              <a:t>4. Related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828800" cy="457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5F7FA"/>
                </a:solidFill>
              </a:rPr>
              <a:t>•  Lewis et al. (2020) — RAG paradigm (NeurIPS 2020)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5F7FA"/>
                </a:solidFill>
              </a:rPr>
              <a:t>•  Karpukhin et al. (2020) — Dense Passage Retrieval (EMNLP)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5F7FA"/>
                </a:solidFill>
              </a:rPr>
              <a:t>•  Reimers &amp; Gurevych (2019) — Sentence-BERT embeddings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5F7FA"/>
                </a:solidFill>
              </a:rPr>
              <a:t>•  Es et al. (2023) — RAGAS evaluation framework (EACL 2024)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5F7FA"/>
                </a:solidFill>
              </a:rPr>
              <a:t>•  Gao et al. (2023) — RAG survey identifies our gap: open-source + cited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5F7FA"/>
                </a:solidFill>
              </a:rPr>
              <a:t>•  Compared to: ChatGPT (no cite), Perplexity (closed), NotebookLM (closed)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4A3B8"/>
                </a:solidFill>
              </a:rPr>
              <a:t>5/12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4A3B8"/>
                </a:solidFill>
              </a:rPr>
              <a:t>CiteMind AI · by Niam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A8EDEA"/>
                </a:solidFill>
              </a:rPr>
              <a:t>5. Methodology — System Architecture</a:t>
            </a:r>
          </a:p>
        </p:txBody>
      </p:sp>
      <p:pic>
        <p:nvPicPr>
          <p:cNvPr id="3" name="Picture 2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463040"/>
            <a:ext cx="82296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94A3B8"/>
                </a:solidFill>
              </a:rPr>
              <a:t>End-to-end RAG pipeline: Documents → Embed → Index → Retrieve → Generate → Cite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4A3B8"/>
                </a:solidFill>
              </a:rPr>
              <a:t>CiteMind AI · by Niam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A8EDEA"/>
                </a:solidFill>
              </a:rPr>
              <a:t>5. Methodology — Components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828800" cy="457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5F7FA"/>
                </a:solidFill>
              </a:rPr>
              <a:t>•  Embedding: sentence-transformers/all-MiniLM-L6-v2 (384-dim, 80MB, CPU-fast)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5F7FA"/>
                </a:solidFill>
              </a:rPr>
              <a:t>•  Vector DB: ChromaDB with HNSW index, cosine similarity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5F7FA"/>
                </a:solidFill>
              </a:rPr>
              <a:t>•  Chunking: Recursive (1000 chars, 200 overlap) — respects sentence boundaries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5F7FA"/>
                </a:solidFill>
              </a:rPr>
              <a:t>•  Retrieval: Top-K=5 with MMR re-ranking (λ=0.5) for diversity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5F7FA"/>
                </a:solidFill>
              </a:rPr>
              <a:t>•  Generation: Groq Llama 3.3 70B + Gemini 2.5 Flash with citation prompts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5F7FA"/>
                </a:solidFill>
              </a:rPr>
              <a:t>•  Confidence: top-1 score &lt; 0.30 → refuse; 0.30–0.50 → caveat; &gt; 0.50 →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4A3B8"/>
                </a:solidFill>
              </a:rPr>
              <a:t>7/12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4A3B8"/>
                </a:solidFill>
              </a:rPr>
              <a:t>CiteMind AI · by Niam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A8EDEA"/>
                </a:solidFill>
              </a:rPr>
              <a:t>6. Results — Metrics Comparison</a:t>
            </a:r>
          </a:p>
        </p:txBody>
      </p:sp>
      <p:pic>
        <p:nvPicPr>
          <p:cNvPr id="3" name="Picture 2" descr="01_metric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463040"/>
            <a:ext cx="8229600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94A3B8"/>
                </a:solidFill>
              </a:rPr>
              <a:t>Both LLMs exceed target on Faithfulness — RAG anti-hallucination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4A3B8"/>
                </a:solidFill>
              </a:rPr>
              <a:t>CiteMind AI · by Niam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A8EDEA"/>
                </a:solidFill>
              </a:rPr>
              <a:t>6. Results — Quality Profile</a:t>
            </a:r>
          </a:p>
        </p:txBody>
      </p:sp>
      <p:pic>
        <p:nvPicPr>
          <p:cNvPr id="3" name="Picture 2" descr="05_rada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463040"/>
            <a:ext cx="8229600" cy="8229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94A3B8"/>
                </a:solidFill>
              </a:rPr>
              <a:t>Multi-metric profile: Groq vs Gemini head-to-head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4A3B8"/>
                </a:solidFill>
              </a:rPr>
              <a:t>CiteMind AI · by Niam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A8EDEA"/>
                </a:solidFill>
              </a:rPr>
              <a:t>7. Visualizations — Per-Query Faithfulness</a:t>
            </a:r>
          </a:p>
        </p:txBody>
      </p:sp>
      <p:pic>
        <p:nvPicPr>
          <p:cNvPr id="3" name="Picture 2" descr="03_per_query_faithful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463040"/>
            <a:ext cx="82296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94A3B8"/>
                </a:solidFill>
              </a:rPr>
              <a:t>10 hand-crafted eval queries, both LLMs above target line (0.85)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4A3B8"/>
                </a:solidFill>
              </a:rPr>
              <a:t>CiteMind AI · by Niam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A8EDEA"/>
                </a:solidFill>
              </a:rPr>
              <a:t>8. Conclusions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828800" cy="457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5F7FA"/>
                </a:solidFill>
              </a:rPr>
              <a:t>•  Built a production-grade citation-aware research assistant — open-source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5F7FA"/>
                </a:solidFill>
              </a:rPr>
              <a:t>•  All success criteria met: &lt;5s latency, faithfulness &gt; target, dual LLM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5F7FA"/>
                </a:solidFill>
              </a:rPr>
              <a:t>•  Confidence layer turns 'trust me' into 'verify me' — defining contribution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5F7FA"/>
                </a:solidFill>
              </a:rPr>
              <a:t>•  Reproducible: Jupyter notebook runs end-to-end, full eval suite included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5F7FA"/>
                </a:solidFill>
              </a:rPr>
              <a:t>•  Future: hybrid search, cross-encoder re-ranking, RAGAS LLM-judge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4A3B8"/>
                </a:solidFill>
              </a:rPr>
              <a:t>11/12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4A3B8"/>
                </a:solidFill>
              </a:rPr>
              <a:t>CiteMind AI · by Niam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471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0" b="1">
                <a:solidFill>
                  <a:srgbClr val="A8EDEA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20624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>
                <a:solidFill>
                  <a:srgbClr val="F5F7FA"/>
                </a:solidFill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667EEA"/>
                </a:solidFill>
              </a:rPr>
              <a:t>github.com/ns-niam/CiteMind.ai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